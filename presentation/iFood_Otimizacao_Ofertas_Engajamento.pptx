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slide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3DE1632-7D4A-4680-88ED-1286F9441D70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B4B610-5013-4BCA-90FE-7ED69E4645A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67EC14-1B0E-49E1-A7E1-CF467DE5009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F0E1DF-2901-4F4B-BD23-1B9529DB9EA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792F03-D59D-461D-B010-1002F655963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FAAE10-0525-492E-8601-FC9EAF7EBDF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A1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457200" y="5486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Oportunid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ade de 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Ganho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457200" y="123444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Foco no grupo de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Médio Engajamento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457200" y="2011680"/>
            <a:ext cx="3931560" cy="16455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457200" y="2194560"/>
            <a:ext cx="3931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EA1D2C"/>
                </a:solidFill>
                <a:effectLst/>
                <a:uFillTx/>
                <a:latin typeface="Arial"/>
                <a:ea typeface="Arial"/>
              </a:rPr>
              <a:t>+ R$ 60k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457200" y="3017520"/>
            <a:ext cx="3931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Cenário Realista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(60% de conversão)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4754880" y="2011680"/>
            <a:ext cx="3931560" cy="16455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4754880" y="2194560"/>
            <a:ext cx="3931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EA1D2C"/>
                </a:solidFill>
                <a:effectLst/>
                <a:uFillTx/>
                <a:latin typeface="Arial"/>
                <a:ea typeface="Arial"/>
              </a:rPr>
              <a:t>+ R$ 195k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4754880" y="3017520"/>
            <a:ext cx="3931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Melhor Cenário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(79,8% de conversão)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457200" y="47656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Análise Comportamental | Case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Técnico iFood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457560" y="476604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Análise Comportamental | Case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Técnico iFood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1130760" y="41346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Referência: R$ 630k de Receita Média (offers aceitas)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Contexto e Base de Dados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"/>
          <p:cNvSpPr/>
          <p:nvPr/>
        </p:nvSpPr>
        <p:spPr>
          <a:xfrm>
            <a:off x="457200" y="1005840"/>
            <a:ext cx="2651400" cy="127980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2"/>
          <p:cNvSpPr/>
          <p:nvPr/>
        </p:nvSpPr>
        <p:spPr>
          <a:xfrm>
            <a:off x="457200" y="1097280"/>
            <a:ext cx="2651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EA1D2C"/>
                </a:solidFill>
                <a:effectLst/>
                <a:uFillTx/>
                <a:latin typeface="Arial"/>
                <a:ea typeface="Arial"/>
              </a:rPr>
              <a:t>76.277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3"/>
          <p:cNvSpPr/>
          <p:nvPr/>
        </p:nvSpPr>
        <p:spPr>
          <a:xfrm>
            <a:off x="457200" y="173736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Registros de Ofertas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4"/>
          <p:cNvSpPr/>
          <p:nvPr/>
        </p:nvSpPr>
        <p:spPr>
          <a:xfrm>
            <a:off x="3246120" y="1005840"/>
            <a:ext cx="2651400" cy="127980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5"/>
          <p:cNvSpPr/>
          <p:nvPr/>
        </p:nvSpPr>
        <p:spPr>
          <a:xfrm>
            <a:off x="3246120" y="1097280"/>
            <a:ext cx="2651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EA1D2C"/>
                </a:solidFill>
                <a:effectLst/>
                <a:uFillTx/>
                <a:latin typeface="Arial"/>
                <a:ea typeface="Arial"/>
              </a:rPr>
              <a:t>47,19%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6"/>
          <p:cNvSpPr/>
          <p:nvPr/>
        </p:nvSpPr>
        <p:spPr>
          <a:xfrm>
            <a:off x="3246120" y="173736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Taxa de Conversão Geral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7"/>
          <p:cNvSpPr/>
          <p:nvPr/>
        </p:nvSpPr>
        <p:spPr>
          <a:xfrm>
            <a:off x="6035040" y="1005840"/>
            <a:ext cx="2651400" cy="127980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8"/>
          <p:cNvSpPr/>
          <p:nvPr/>
        </p:nvSpPr>
        <p:spPr>
          <a:xfrm>
            <a:off x="6035040" y="1097280"/>
            <a:ext cx="2651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EA1D2C"/>
                </a:solidFill>
                <a:effectLst/>
                <a:uFillTx/>
                <a:latin typeface="Arial"/>
                <a:ea typeface="Arial"/>
              </a:rPr>
              <a:t>3 Clusters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9"/>
          <p:cNvSpPr/>
          <p:nvPr/>
        </p:nvSpPr>
        <p:spPr>
          <a:xfrm>
            <a:off x="6035040" y="173736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de Engajamento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0"/>
          <p:cNvSpPr/>
          <p:nvPr/>
        </p:nvSpPr>
        <p:spPr>
          <a:xfrm>
            <a:off x="457200" y="24688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Taxa de Conversão por Tipo de Oferta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2" name="Table 0"/>
          <p:cNvGraphicFramePr/>
          <p:nvPr/>
        </p:nvGraphicFramePr>
        <p:xfrm>
          <a:off x="457200" y="2926080"/>
          <a:ext cx="8229240" cy="1371240"/>
        </p:xfrm>
        <a:graphic>
          <a:graphicData uri="http://schemas.openxmlformats.org/drawingml/2006/table">
            <a:tbl>
              <a:tblPr/>
              <a:tblGrid>
                <a:gridCol w="3200400"/>
                <a:gridCol w="2514600"/>
                <a:gridCol w="2514600"/>
              </a:tblGrid>
              <a:tr h="3427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Tipo de Oferta</a:t>
                      </a:r>
                      <a:endParaRPr lang="pt-BR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A1D2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Ofertas Recebidas</a:t>
                      </a:r>
                      <a:endParaRPr lang="pt-BR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A1D2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Taxa de Conversão</a:t>
                      </a:r>
                      <a:endParaRPr lang="pt-BR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A1D2C"/>
                    </a:solidFill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Discount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30.543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62,45%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BOGO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30.499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55,48%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Informational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15.235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0%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0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O que Descobrimos na Análise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>
            <a:off x="457200" y="9144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A1D2C"/>
                </a:solidFill>
                <a:effectLst/>
                <a:uFillTx/>
                <a:latin typeface="Arial"/>
                <a:ea typeface="Arial"/>
              </a:rPr>
              <a:t>Variáveis Comportamentais vs Demográficas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"/>
          <p:cNvSpPr/>
          <p:nvPr/>
        </p:nvSpPr>
        <p:spPr>
          <a:xfrm>
            <a:off x="457200" y="1371600"/>
            <a:ext cx="3931560" cy="146268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3"/>
          <p:cNvSpPr/>
          <p:nvPr/>
        </p:nvSpPr>
        <p:spPr>
          <a:xfrm>
            <a:off x="457200" y="1463040"/>
            <a:ext cx="3931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A1D2C"/>
                </a:solidFill>
                <a:effectLst/>
                <a:uFillTx/>
                <a:latin typeface="Arial"/>
                <a:ea typeface="Arial"/>
              </a:rPr>
              <a:t>Variáveis Demográficas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4"/>
          <p:cNvSpPr/>
          <p:nvPr/>
        </p:nvSpPr>
        <p:spPr>
          <a:xfrm>
            <a:off x="548640" y="1828800"/>
            <a:ext cx="3748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Baixa importância no modelo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(idade, gênero e limite de crédito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ficaram entre as últimas posições)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5"/>
          <p:cNvSpPr/>
          <p:nvPr/>
        </p:nvSpPr>
        <p:spPr>
          <a:xfrm>
            <a:off x="4754880" y="1371600"/>
            <a:ext cx="3931560" cy="146268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6"/>
          <p:cNvSpPr/>
          <p:nvPr/>
        </p:nvSpPr>
        <p:spPr>
          <a:xfrm>
            <a:off x="4754880" y="1463040"/>
            <a:ext cx="3931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E7D32"/>
                </a:solidFill>
                <a:effectLst/>
                <a:uFillTx/>
                <a:latin typeface="Arial"/>
                <a:ea typeface="Arial"/>
              </a:rPr>
              <a:t>Variáveis Comportamentais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7"/>
          <p:cNvSpPr/>
          <p:nvPr/>
        </p:nvSpPr>
        <p:spPr>
          <a:xfrm>
            <a:off x="4846320" y="1828800"/>
            <a:ext cx="3748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Alta importância no modelo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(discount_value, offer_frequency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e total_offers_completed lideram)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8"/>
          <p:cNvSpPr/>
          <p:nvPr/>
        </p:nvSpPr>
        <p:spPr>
          <a:xfrm>
            <a:off x="457200" y="301752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Top 3 Variáveis mais Importantes (Random Forest)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2" name="Table 0"/>
          <p:cNvGraphicFramePr/>
          <p:nvPr/>
        </p:nvGraphicFramePr>
        <p:xfrm>
          <a:off x="457200" y="3429000"/>
          <a:ext cx="8229240" cy="1221120"/>
        </p:xfrm>
        <a:graphic>
          <a:graphicData uri="http://schemas.openxmlformats.org/drawingml/2006/table">
            <a:tbl>
              <a:tblPr/>
              <a:tblGrid>
                <a:gridCol w="1371600"/>
                <a:gridCol w="4114800"/>
                <a:gridCol w="2743200"/>
              </a:tblGrid>
              <a:tr h="297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Posição</a:t>
                      </a:r>
                      <a:endParaRPr lang="pt-BR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A1D2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Variável</a:t>
                      </a:r>
                      <a:endParaRPr lang="pt-BR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A1D2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Importância</a:t>
                      </a:r>
                      <a:endParaRPr lang="pt-BR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A1D2C"/>
                    </a:solidFill>
                  </a:tcPr>
                </a:tc>
              </a:tr>
              <a:tr h="297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1º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discount_value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14,5%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297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2º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offer_frequency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13,1%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297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3º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total_offers_completed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12,7%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Segmentação </a:t>
            </a:r>
            <a:r>
              <a:rPr lang="en-US" sz="2600" b="1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por Nível de </a:t>
            </a:r>
            <a:r>
              <a:rPr lang="en-US" sz="2600" b="1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Engajamento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4" name="Table 0"/>
          <p:cNvGraphicFramePr/>
          <p:nvPr/>
        </p:nvGraphicFramePr>
        <p:xfrm>
          <a:off x="457200" y="914400"/>
          <a:ext cx="8229240" cy="137124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645920"/>
                <a:gridCol w="1463040"/>
              </a:tblGrid>
              <a:tr h="3427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Segmento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A1D2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Clientes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A1D2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Ofertas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A1D2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Taxa Conversão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A1D2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Ticket Médio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A1D2C"/>
                    </a:solidFill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Alto Engajamento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6.307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30.686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79,8%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R$ 19,97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Médio Engajamento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6.467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27.414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42,0%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R$ 12,29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Baixo / Sem Engajamento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4.220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18.177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0%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R$ 3,75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5" name="Text 1"/>
          <p:cNvSpPr/>
          <p:nvPr/>
        </p:nvSpPr>
        <p:spPr>
          <a:xfrm>
            <a:off x="457200" y="24688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Cenários de Melhoria – </a:t>
            </a:r>
            <a:r>
              <a:rPr lang="en-US" sz="1600" b="1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Grupo Médio </a:t>
            </a:r>
            <a:r>
              <a:rPr lang="en-US" sz="1600" b="1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Engajamento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6" name="Table 1"/>
          <p:cNvGraphicFramePr/>
          <p:nvPr/>
        </p:nvGraphicFramePr>
        <p:xfrm>
          <a:off x="457200" y="2880360"/>
          <a:ext cx="8229240" cy="1371240"/>
        </p:xfrm>
        <a:graphic>
          <a:graphicData uri="http://schemas.openxmlformats.org/drawingml/2006/table">
            <a:tbl>
              <a:tblPr/>
              <a:tblGrid>
                <a:gridCol w="3200400"/>
                <a:gridCol w="2514600"/>
                <a:gridCol w="2514600"/>
              </a:tblGrid>
              <a:tr h="3427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Cenário</a:t>
                      </a:r>
                      <a:endParaRPr lang="pt-BR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A1D2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Taxa de Conversão</a:t>
                      </a:r>
                      <a:endParaRPr lang="pt-BR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A1D2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Ganho Adicional</a:t>
                      </a:r>
                      <a:endParaRPr lang="pt-BR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A1D2C"/>
                    </a:solidFill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Atual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42,0%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—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Meio-Termo (Realista)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60%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+ R$ 60k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Melhor dos Mundos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79,8%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+ R$ 195k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Recomendações Estratégicas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"/>
          <p:cNvSpPr/>
          <p:nvPr/>
        </p:nvSpPr>
        <p:spPr>
          <a:xfrm>
            <a:off x="457200" y="1005840"/>
            <a:ext cx="411120" cy="411120"/>
          </a:xfrm>
          <a:prstGeom prst="ellipse">
            <a:avLst/>
          </a:prstGeom>
          <a:solidFill>
            <a:srgbClr val="EA1D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"/>
          <p:cNvSpPr/>
          <p:nvPr/>
        </p:nvSpPr>
        <p:spPr>
          <a:xfrm>
            <a:off x="457200" y="1051560"/>
            <a:ext cx="411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"/>
          <p:cNvSpPr/>
          <p:nvPr/>
        </p:nvSpPr>
        <p:spPr>
          <a:xfrm>
            <a:off x="1005840" y="100584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Realizar teste A/B no grupo de Médio Engajamento aumentando o valor médio de desconto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4"/>
          <p:cNvSpPr/>
          <p:nvPr/>
        </p:nvSpPr>
        <p:spPr>
          <a:xfrm>
            <a:off x="457200" y="1691640"/>
            <a:ext cx="411120" cy="411120"/>
          </a:xfrm>
          <a:prstGeom prst="ellipse">
            <a:avLst/>
          </a:prstGeom>
          <a:solidFill>
            <a:srgbClr val="EA1D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5"/>
          <p:cNvSpPr/>
          <p:nvPr/>
        </p:nvSpPr>
        <p:spPr>
          <a:xfrm>
            <a:off x="457200" y="1737360"/>
            <a:ext cx="411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6"/>
          <p:cNvSpPr/>
          <p:nvPr/>
        </p:nvSpPr>
        <p:spPr>
          <a:xfrm>
            <a:off x="1005840" y="169164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Priorizar o grupo de Médio Engajamento — maior potencial de ganho incremental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7"/>
          <p:cNvSpPr/>
          <p:nvPr/>
        </p:nvSpPr>
        <p:spPr>
          <a:xfrm>
            <a:off x="457200" y="2377440"/>
            <a:ext cx="411120" cy="411120"/>
          </a:xfrm>
          <a:prstGeom prst="ellipse">
            <a:avLst/>
          </a:prstGeom>
          <a:solidFill>
            <a:srgbClr val="EA1D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8"/>
          <p:cNvSpPr/>
          <p:nvPr/>
        </p:nvSpPr>
        <p:spPr>
          <a:xfrm>
            <a:off x="457200" y="2423160"/>
            <a:ext cx="411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9"/>
          <p:cNvSpPr/>
          <p:nvPr/>
        </p:nvSpPr>
        <p:spPr>
          <a:xfrm>
            <a:off x="1005840" y="237744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Monitorar impacto no </a:t>
            </a:r>
            <a:r>
              <a:rPr lang="en-US" sz="1500" b="1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ticket médio</a:t>
            </a:r>
            <a:r>
              <a:rPr lang="en-US" sz="150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 ao aumentar descontos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0"/>
          <p:cNvSpPr/>
          <p:nvPr/>
        </p:nvSpPr>
        <p:spPr>
          <a:xfrm>
            <a:off x="457200" y="3063240"/>
            <a:ext cx="411120" cy="411120"/>
          </a:xfrm>
          <a:prstGeom prst="ellipse">
            <a:avLst/>
          </a:prstGeom>
          <a:solidFill>
            <a:srgbClr val="EA1D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1"/>
          <p:cNvSpPr/>
          <p:nvPr/>
        </p:nvSpPr>
        <p:spPr>
          <a:xfrm>
            <a:off x="457200" y="3108960"/>
            <a:ext cx="411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2"/>
          <p:cNvSpPr/>
          <p:nvPr/>
        </p:nvSpPr>
        <p:spPr>
          <a:xfrm>
            <a:off x="1005840" y="306324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Reduzir volume de ofertas para o grupo de Baixo Engajamento (?)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3"/>
          <p:cNvSpPr/>
          <p:nvPr/>
        </p:nvSpPr>
        <p:spPr>
          <a:xfrm>
            <a:off x="457200" y="38404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A1D2C"/>
                </a:solidFill>
                <a:effectLst/>
                <a:uFillTx/>
                <a:latin typeface="Arial"/>
                <a:ea typeface="Arial"/>
              </a:rPr>
              <a:t>Próximo Passo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4"/>
          <p:cNvSpPr/>
          <p:nvPr/>
        </p:nvSpPr>
        <p:spPr>
          <a:xfrm>
            <a:off x="457200" y="41605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Implementar teste controlado </a:t>
            </a:r>
            <a:r>
              <a:rPr lang="en-US" sz="14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de aumento de desconto no </a:t>
            </a:r>
            <a:r>
              <a:rPr lang="en-US" sz="14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segmento de Médio </a:t>
            </a:r>
            <a:r>
              <a:rPr lang="en-US" sz="14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Engajamento e medir </a:t>
            </a:r>
            <a:r>
              <a:rPr lang="en-US" sz="14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impacto em conversão e </a:t>
            </a:r>
            <a:r>
              <a:rPr lang="en-US" sz="14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ticket médio.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205</TotalTime>
  <Application>LibreOffice/26.2.4.2$Linux_X86_64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2026-06-24T12:49:42Z</dcterms:created>
  <dc:creator>Case iFood - Data Science</dc:creator>
  <dc:description/>
  <dc:language>pt-BR</dc:language>
  <cp:lastModifiedBy/>
  <dcterms:modified xsi:type="dcterms:W3CDTF">2026-06-24T13:15:46Z</dcterms:modified>
  <cp:revision>2</cp:revision>
  <dc:subject>PptxGenJS Presentation</dc:subject>
  <dc:title>Otimização de Ofertas por Engajamento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On-screen Show (16:9)</vt:lpwstr>
  </property>
  <property fmtid="{D5CDD505-2E9C-101B-9397-08002B2CF9AE}" pid="4" name="Slides">
    <vt:i4>5</vt:i4>
  </property>
</Properties>
</file>